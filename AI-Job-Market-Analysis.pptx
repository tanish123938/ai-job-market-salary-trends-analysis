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Quattrocento"/>
      <p:regular r:id="rId17"/>
    </p:embeddedFont>
    <p:embeddedFont>
      <p:font typeface="Quattrocento"/>
      <p:regular r:id="rId18"/>
    </p:embeddedFont>
    <p:embeddedFont>
      <p:font typeface="Quattrocento"/>
      <p:regular r:id="rId19"/>
    </p:embeddedFont>
    <p:embeddedFont>
      <p:font typeface="Quattrocento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200281"/>
            <a:ext cx="565201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AI Job Market Analysis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263271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Uncovering trends, salaries, and opportunities in the rapidly growing AI industry using SQL &amp; Power BI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06160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Project Objectives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1888927"/>
            <a:ext cx="4158734" cy="2697599"/>
          </a:xfrm>
          <a:prstGeom prst="roundRect">
            <a:avLst>
              <a:gd name="adj" fmla="val 1331"/>
            </a:avLst>
          </a:prstGeom>
          <a:solidFill>
            <a:srgbClr val="315251"/>
          </a:solidFill>
          <a:ln/>
        </p:spPr>
      </p:sp>
      <p:sp>
        <p:nvSpPr>
          <p:cNvPr id="4" name="Shape 2"/>
          <p:cNvSpPr/>
          <p:nvPr/>
        </p:nvSpPr>
        <p:spPr>
          <a:xfrm>
            <a:off x="1077039" y="2128242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EF9C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4445" y="2325648"/>
            <a:ext cx="323136" cy="323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7039" y="308562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Market Analysis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77039" y="3581162"/>
            <a:ext cx="36801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Analyze overall AI job market trends and growth patterns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35773" y="1888927"/>
            <a:ext cx="4158734" cy="2697599"/>
          </a:xfrm>
          <a:prstGeom prst="roundRect">
            <a:avLst>
              <a:gd name="adj" fmla="val 1331"/>
            </a:avLst>
          </a:prstGeom>
          <a:solidFill>
            <a:srgbClr val="315251"/>
          </a:solidFill>
          <a:ln/>
        </p:spPr>
      </p:sp>
      <p:sp>
        <p:nvSpPr>
          <p:cNvPr id="9" name="Shape 6"/>
          <p:cNvSpPr/>
          <p:nvPr/>
        </p:nvSpPr>
        <p:spPr>
          <a:xfrm>
            <a:off x="5475089" y="2128242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EF9C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2495" y="2325648"/>
            <a:ext cx="323136" cy="3231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5089" y="308562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Salary Distribution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75089" y="3581162"/>
            <a:ext cx="36801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Study compensation across job roles and experience levels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9633823" y="1888927"/>
            <a:ext cx="4158853" cy="2697599"/>
          </a:xfrm>
          <a:prstGeom prst="roundRect">
            <a:avLst>
              <a:gd name="adj" fmla="val 1331"/>
            </a:avLst>
          </a:prstGeom>
          <a:solidFill>
            <a:srgbClr val="315251"/>
          </a:solidFill>
          <a:ln/>
        </p:spPr>
      </p:sp>
      <p:sp>
        <p:nvSpPr>
          <p:cNvPr id="14" name="Shape 10"/>
          <p:cNvSpPr/>
          <p:nvPr/>
        </p:nvSpPr>
        <p:spPr>
          <a:xfrm>
            <a:off x="9873139" y="2128242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EF9C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70544" y="2325648"/>
            <a:ext cx="323136" cy="3231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3139" y="308562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Skills Demand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3139" y="3581162"/>
            <a:ext cx="368022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Identify in-demand and high-paying technical skills</a:t>
            </a:r>
            <a:endParaRPr lang="en-US" sz="1850" dirty="0"/>
          </a:p>
        </p:txBody>
      </p:sp>
      <p:sp>
        <p:nvSpPr>
          <p:cNvPr id="18" name="Shape 13"/>
          <p:cNvSpPr/>
          <p:nvPr/>
        </p:nvSpPr>
        <p:spPr>
          <a:xfrm>
            <a:off x="837724" y="4825841"/>
            <a:ext cx="6357818" cy="2697599"/>
          </a:xfrm>
          <a:prstGeom prst="roundRect">
            <a:avLst>
              <a:gd name="adj" fmla="val 1331"/>
            </a:avLst>
          </a:prstGeom>
          <a:solidFill>
            <a:srgbClr val="315251"/>
          </a:solidFill>
          <a:ln/>
        </p:spPr>
      </p:sp>
      <p:sp>
        <p:nvSpPr>
          <p:cNvPr id="19" name="Shape 14"/>
          <p:cNvSpPr/>
          <p:nvPr/>
        </p:nvSpPr>
        <p:spPr>
          <a:xfrm>
            <a:off x="1077039" y="5065157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EF9C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4445" y="5262563"/>
            <a:ext cx="323136" cy="3231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77039" y="602253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Hiring Trends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77039" y="6518077"/>
            <a:ext cx="58791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Analyze company-wise and location-wise opportunities</a:t>
            </a:r>
            <a:endParaRPr lang="en-US" sz="1850" dirty="0"/>
          </a:p>
        </p:txBody>
      </p:sp>
      <p:sp>
        <p:nvSpPr>
          <p:cNvPr id="23" name="Shape 17"/>
          <p:cNvSpPr/>
          <p:nvPr/>
        </p:nvSpPr>
        <p:spPr>
          <a:xfrm>
            <a:off x="7434858" y="4825841"/>
            <a:ext cx="6357818" cy="2697599"/>
          </a:xfrm>
          <a:prstGeom prst="roundRect">
            <a:avLst>
              <a:gd name="adj" fmla="val 1331"/>
            </a:avLst>
          </a:prstGeom>
          <a:solidFill>
            <a:srgbClr val="315251"/>
          </a:solidFill>
          <a:ln/>
        </p:spPr>
      </p:sp>
      <p:sp>
        <p:nvSpPr>
          <p:cNvPr id="24" name="Shape 18"/>
          <p:cNvSpPr/>
          <p:nvPr/>
        </p:nvSpPr>
        <p:spPr>
          <a:xfrm>
            <a:off x="7674173" y="5065157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EF9C8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71579" y="5262563"/>
            <a:ext cx="323136" cy="3231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74173" y="602253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Interactive Insights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74173" y="6518077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Create dashboards for data-driven decision-making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55150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Tools &amp; Technologies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03348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SQL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529018"/>
            <a:ext cx="30143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Querying, filtering, and aggregating job data for efficient analysis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4151233" y="403348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Power BI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51233" y="4529018"/>
            <a:ext cx="30143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Creating interactive dashboards and visual storytelling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464743" y="403348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Power Query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64743" y="4529018"/>
            <a:ext cx="301430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cleaning and transformation workflows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0778252" y="403348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78252" y="4529018"/>
            <a:ext cx="301442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Calculated measures and key performance indicators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667583"/>
            <a:ext cx="1632347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933" y="746998"/>
            <a:ext cx="1329928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QUALITY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1228368"/>
            <a:ext cx="778133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Preprocessing &amp; Cleaning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2291358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preprocessing was essential to ensure accuracy and reliability. Multiple steps transformed raw data into analysis-ready insights.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3326606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01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37724" y="3702963"/>
            <a:ext cx="4158734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8" name="Text 6"/>
          <p:cNvSpPr/>
          <p:nvPr/>
        </p:nvSpPr>
        <p:spPr>
          <a:xfrm>
            <a:off x="837724" y="388358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Duplicate Removal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37724" y="4379119"/>
            <a:ext cx="41587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Eliminated redundant records to ensure data integrity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5235773" y="3326606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02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5235773" y="3702963"/>
            <a:ext cx="4158734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2" name="Text 10"/>
          <p:cNvSpPr/>
          <p:nvPr/>
        </p:nvSpPr>
        <p:spPr>
          <a:xfrm>
            <a:off x="5235773" y="388358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35773" y="4379119"/>
            <a:ext cx="41587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Handled missing salary values through imputation and validation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633823" y="3326606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9633823" y="3702963"/>
            <a:ext cx="4158853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6" name="Text 14"/>
          <p:cNvSpPr/>
          <p:nvPr/>
        </p:nvSpPr>
        <p:spPr>
          <a:xfrm>
            <a:off x="9633823" y="3883581"/>
            <a:ext cx="298442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Format Standardization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33823" y="4379119"/>
            <a:ext cx="41588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Unified salary formats across different currencies and structures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37724" y="5563910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04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837724" y="5940266"/>
            <a:ext cx="6357818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20" name="Text 18"/>
          <p:cNvSpPr/>
          <p:nvPr/>
        </p:nvSpPr>
        <p:spPr>
          <a:xfrm>
            <a:off x="837724" y="612088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Skill Parsing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7724" y="6616422"/>
            <a:ext cx="63578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Split skill columns into individual values for granular analysis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7434858" y="5563910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05</a:t>
            </a:r>
            <a:endParaRPr lang="en-US" sz="1850" dirty="0"/>
          </a:p>
        </p:txBody>
      </p:sp>
      <p:sp>
        <p:nvSpPr>
          <p:cNvPr id="23" name="Shape 21"/>
          <p:cNvSpPr/>
          <p:nvPr/>
        </p:nvSpPr>
        <p:spPr>
          <a:xfrm>
            <a:off x="7434858" y="5940266"/>
            <a:ext cx="6357818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24" name="Text 22"/>
          <p:cNvSpPr/>
          <p:nvPr/>
        </p:nvSpPr>
        <p:spPr>
          <a:xfrm>
            <a:off x="7434858" y="612088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Calculated Fields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34858" y="6616422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Created new columns and measures for deeper insights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754" y="551378"/>
            <a:ext cx="5008364" cy="589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SQL Analysis Deep Dive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01754" y="1622227"/>
            <a:ext cx="4997291" cy="64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SQL queries extracted critical insights through efficient data aggregation and filtering before visualization.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754" y="2489240"/>
            <a:ext cx="4997291" cy="499729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95774" y="1667351"/>
            <a:ext cx="3769995" cy="1583531"/>
          </a:xfrm>
          <a:prstGeom prst="roundRect">
            <a:avLst>
              <a:gd name="adj" fmla="val 6929"/>
            </a:avLst>
          </a:prstGeom>
          <a:solidFill>
            <a:srgbClr val="123332"/>
          </a:solidFill>
          <a:ln w="22860">
            <a:solidFill>
              <a:srgbClr val="E7BF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72914" y="1667351"/>
            <a:ext cx="91440" cy="1583531"/>
          </a:xfrm>
          <a:prstGeom prst="roundRect">
            <a:avLst>
              <a:gd name="adj" fmla="val 32892"/>
            </a:avLst>
          </a:prstGeom>
          <a:solidFill>
            <a:srgbClr val="E7BF6A"/>
          </a:solidFill>
          <a:ln/>
        </p:spPr>
      </p:sp>
      <p:sp>
        <p:nvSpPr>
          <p:cNvPr id="7" name="Text 4"/>
          <p:cNvSpPr/>
          <p:nvPr/>
        </p:nvSpPr>
        <p:spPr>
          <a:xfrm>
            <a:off x="6487716" y="1890713"/>
            <a:ext cx="235886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Job Volume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487716" y="2386013"/>
            <a:ext cx="3254693" cy="64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Total number of AI job openings across platforms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0166271" y="1667351"/>
            <a:ext cx="3769995" cy="1583531"/>
          </a:xfrm>
          <a:prstGeom prst="roundRect">
            <a:avLst>
              <a:gd name="adj" fmla="val 6929"/>
            </a:avLst>
          </a:prstGeom>
          <a:solidFill>
            <a:srgbClr val="123332"/>
          </a:solidFill>
          <a:ln w="22860">
            <a:solidFill>
              <a:srgbClr val="DFAB5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143411" y="1667351"/>
            <a:ext cx="91440" cy="1583531"/>
          </a:xfrm>
          <a:prstGeom prst="roundRect">
            <a:avLst>
              <a:gd name="adj" fmla="val 32892"/>
            </a:avLst>
          </a:prstGeom>
          <a:solidFill>
            <a:srgbClr val="DFAB58"/>
          </a:solidFill>
          <a:ln/>
        </p:spPr>
      </p:sp>
      <p:sp>
        <p:nvSpPr>
          <p:cNvPr id="11" name="Text 8"/>
          <p:cNvSpPr/>
          <p:nvPr/>
        </p:nvSpPr>
        <p:spPr>
          <a:xfrm>
            <a:off x="10458212" y="1890713"/>
            <a:ext cx="235886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Salary Analysis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0458212" y="2386013"/>
            <a:ext cx="3254693" cy="64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Average compensation by job role and seniority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195774" y="3451384"/>
            <a:ext cx="3769995" cy="1583531"/>
          </a:xfrm>
          <a:prstGeom prst="roundRect">
            <a:avLst>
              <a:gd name="adj" fmla="val 6929"/>
            </a:avLst>
          </a:prstGeom>
          <a:solidFill>
            <a:srgbClr val="123332"/>
          </a:solidFill>
          <a:ln w="22860">
            <a:solidFill>
              <a:srgbClr val="EBCC7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72914" y="3451384"/>
            <a:ext cx="91440" cy="1583531"/>
          </a:xfrm>
          <a:prstGeom prst="roundRect">
            <a:avLst>
              <a:gd name="adj" fmla="val 32892"/>
            </a:avLst>
          </a:prstGeom>
          <a:solidFill>
            <a:srgbClr val="EBCC75"/>
          </a:solidFill>
          <a:ln/>
        </p:spPr>
      </p:sp>
      <p:sp>
        <p:nvSpPr>
          <p:cNvPr id="15" name="Text 12"/>
          <p:cNvSpPr/>
          <p:nvPr/>
        </p:nvSpPr>
        <p:spPr>
          <a:xfrm>
            <a:off x="6487716" y="3674745"/>
            <a:ext cx="235886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Top Employers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6487716" y="4170045"/>
            <a:ext cx="3254693" cy="64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Leading companies hiring AI professionals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10166271" y="3451384"/>
            <a:ext cx="3769995" cy="1583531"/>
          </a:xfrm>
          <a:prstGeom prst="roundRect">
            <a:avLst>
              <a:gd name="adj" fmla="val 6929"/>
            </a:avLst>
          </a:prstGeom>
          <a:solidFill>
            <a:srgbClr val="123332"/>
          </a:solidFill>
          <a:ln w="22860">
            <a:solidFill>
              <a:srgbClr val="E7BF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143411" y="3451384"/>
            <a:ext cx="91440" cy="1583531"/>
          </a:xfrm>
          <a:prstGeom prst="roundRect">
            <a:avLst>
              <a:gd name="adj" fmla="val 32892"/>
            </a:avLst>
          </a:prstGeom>
          <a:solidFill>
            <a:srgbClr val="E7BF6A"/>
          </a:solidFill>
          <a:ln/>
        </p:spPr>
      </p:sp>
      <p:sp>
        <p:nvSpPr>
          <p:cNvPr id="19" name="Text 16"/>
          <p:cNvSpPr/>
          <p:nvPr/>
        </p:nvSpPr>
        <p:spPr>
          <a:xfrm>
            <a:off x="10458212" y="3674745"/>
            <a:ext cx="256805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Geographic Distribution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10458212" y="4170045"/>
            <a:ext cx="3254693" cy="64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Location-wise job availability and concentration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6195774" y="5235416"/>
            <a:ext cx="3769995" cy="1583531"/>
          </a:xfrm>
          <a:prstGeom prst="roundRect">
            <a:avLst>
              <a:gd name="adj" fmla="val 6929"/>
            </a:avLst>
          </a:prstGeom>
          <a:solidFill>
            <a:srgbClr val="123332"/>
          </a:solidFill>
          <a:ln w="22860">
            <a:solidFill>
              <a:srgbClr val="DFAB5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72914" y="5235416"/>
            <a:ext cx="91440" cy="1583531"/>
          </a:xfrm>
          <a:prstGeom prst="roundRect">
            <a:avLst>
              <a:gd name="adj" fmla="val 32892"/>
            </a:avLst>
          </a:prstGeom>
          <a:solidFill>
            <a:srgbClr val="DFAB58"/>
          </a:solidFill>
          <a:ln/>
        </p:spPr>
      </p:sp>
      <p:sp>
        <p:nvSpPr>
          <p:cNvPr id="23" name="Text 20"/>
          <p:cNvSpPr/>
          <p:nvPr/>
        </p:nvSpPr>
        <p:spPr>
          <a:xfrm>
            <a:off x="6487716" y="5458778"/>
            <a:ext cx="235886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Skill Demand</a:t>
            </a:r>
            <a:endParaRPr lang="en-US" sz="1850" dirty="0"/>
          </a:p>
        </p:txBody>
      </p:sp>
      <p:sp>
        <p:nvSpPr>
          <p:cNvPr id="24" name="Text 21"/>
          <p:cNvSpPr/>
          <p:nvPr/>
        </p:nvSpPr>
        <p:spPr>
          <a:xfrm>
            <a:off x="6487716" y="5954078"/>
            <a:ext cx="3254693" cy="64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Most requested technical skills and competencies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688783"/>
            <a:ext cx="1853565" cy="449818"/>
          </a:xfrm>
          <a:prstGeom prst="roundRect">
            <a:avLst>
              <a:gd name="adj" fmla="val 6386"/>
            </a:avLst>
          </a:prstGeom>
          <a:solidFill>
            <a:srgbClr val="44170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1313" y="1817965"/>
            <a:ext cx="191453" cy="1914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8492" y="1760577"/>
            <a:ext cx="1279208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DASHBOARD 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7724" y="2234327"/>
            <a:ext cx="537317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Job Market Overview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37724" y="3177659"/>
            <a:ext cx="537317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This dashboard provides a high-level overview of the AI job market structure, helping stakeholders understand the overall landscape and distribution of opportunities.</a:t>
            </a:r>
            <a:endParaRPr lang="en-US" sz="1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398" y="1688783"/>
            <a:ext cx="6995398" cy="48519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988219"/>
            <a:ext cx="6727031" cy="4135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5393293"/>
            <a:ext cx="672703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Salary Insights dashboard focuses on compensation trends.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837724" y="6374725"/>
            <a:ext cx="672703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This dashboard helps job seekers understand salary expectations.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156258" y="988219"/>
            <a:ext cx="1888331" cy="449818"/>
          </a:xfrm>
          <a:prstGeom prst="roundRect">
            <a:avLst>
              <a:gd name="adj" fmla="val 6386"/>
            </a:avLst>
          </a:prstGeom>
          <a:solidFill>
            <a:srgbClr val="44170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9847" y="1117402"/>
            <a:ext cx="191453" cy="1914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87026" y="1060013"/>
            <a:ext cx="1313974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DASHBOARD 2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8156258" y="1707237"/>
            <a:ext cx="2702243" cy="2631877"/>
          </a:xfrm>
          <a:prstGeom prst="roundRect">
            <a:avLst>
              <a:gd name="adj" fmla="val 1364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426053" y="1977033"/>
            <a:ext cx="2162651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Role-Based Compensation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426053" y="2920246"/>
            <a:ext cx="2162651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Average salary by specific job titles and responsibilities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11097816" y="1707237"/>
            <a:ext cx="2702362" cy="2631877"/>
          </a:xfrm>
          <a:prstGeom prst="roundRect">
            <a:avLst>
              <a:gd name="adj" fmla="val 1364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367611" y="1977033"/>
            <a:ext cx="2162770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Experience Premium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1367611" y="2920246"/>
            <a:ext cx="2162770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Salary comparison across entry, mid, and senior levels</a:t>
            </a:r>
            <a:endParaRPr lang="en-US" sz="1850" dirty="0"/>
          </a:p>
        </p:txBody>
      </p:sp>
      <p:sp>
        <p:nvSpPr>
          <p:cNvPr id="14" name="Shape 10"/>
          <p:cNvSpPr/>
          <p:nvPr/>
        </p:nvSpPr>
        <p:spPr>
          <a:xfrm>
            <a:off x="8156258" y="4578429"/>
            <a:ext cx="2702243" cy="2662952"/>
          </a:xfrm>
          <a:prstGeom prst="roundRect">
            <a:avLst>
              <a:gd name="adj" fmla="val 1348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26053" y="4848225"/>
            <a:ext cx="216265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Top Earners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426053" y="5439489"/>
            <a:ext cx="2162651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Highest paying positions in the AI job market</a:t>
            </a:r>
            <a:endParaRPr lang="en-US" sz="1850" dirty="0"/>
          </a:p>
        </p:txBody>
      </p:sp>
      <p:sp>
        <p:nvSpPr>
          <p:cNvPr id="17" name="Shape 13"/>
          <p:cNvSpPr/>
          <p:nvPr/>
        </p:nvSpPr>
        <p:spPr>
          <a:xfrm>
            <a:off x="11097816" y="4578429"/>
            <a:ext cx="2702362" cy="2662952"/>
          </a:xfrm>
          <a:prstGeom prst="roundRect">
            <a:avLst>
              <a:gd name="adj" fmla="val 1348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1367611" y="4848225"/>
            <a:ext cx="216277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Salary Range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11367611" y="5439489"/>
            <a:ext cx="2162770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Indicators for highest and lowest compensation bands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908453"/>
            <a:ext cx="1889879" cy="449818"/>
          </a:xfrm>
          <a:prstGeom prst="roundRect">
            <a:avLst>
              <a:gd name="adj" fmla="val 6386"/>
            </a:avLst>
          </a:prstGeom>
          <a:solidFill>
            <a:srgbClr val="44170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1313" y="2037636"/>
            <a:ext cx="191453" cy="1914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8492" y="1980248"/>
            <a:ext cx="1315522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DASHBOARD 3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7724" y="2453997"/>
            <a:ext cx="537317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Skills &amp; Demand Analysis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37724" y="4101346"/>
            <a:ext cx="537317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This dashboard analyzes skill requirements in the AI job market and highlights the importance of multi-skilled professionals.</a:t>
            </a:r>
            <a:endParaRPr lang="en-US" sz="1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398" y="1908453"/>
            <a:ext cx="6997779" cy="44126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8185" y="578168"/>
            <a:ext cx="1613773" cy="385763"/>
          </a:xfrm>
          <a:prstGeom prst="roundRect">
            <a:avLst>
              <a:gd name="adj" fmla="val 6383"/>
            </a:avLst>
          </a:prstGeom>
          <a:solidFill>
            <a:srgbClr val="44170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96" y="689015"/>
            <a:ext cx="164068" cy="1640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7398" y="639723"/>
            <a:ext cx="1121450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DASHBOARD 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18185" y="1045964"/>
            <a:ext cx="6386036" cy="603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Company &amp; Location Insights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718185" y="2495669"/>
            <a:ext cx="3070741" cy="2205990"/>
          </a:xfrm>
          <a:prstGeom prst="roundRect">
            <a:avLst>
              <a:gd name="adj" fmla="val 4974"/>
            </a:avLst>
          </a:prstGeom>
          <a:solidFill>
            <a:srgbClr val="123332"/>
          </a:solidFill>
          <a:ln/>
        </p:spPr>
      </p:sp>
      <p:sp>
        <p:nvSpPr>
          <p:cNvPr id="7" name="Shape 4"/>
          <p:cNvSpPr/>
          <p:nvPr/>
        </p:nvSpPr>
        <p:spPr>
          <a:xfrm>
            <a:off x="718185" y="2472809"/>
            <a:ext cx="3070741" cy="91440"/>
          </a:xfrm>
          <a:prstGeom prst="roundRect">
            <a:avLst>
              <a:gd name="adj" fmla="val 33662"/>
            </a:avLst>
          </a:prstGeom>
          <a:solidFill>
            <a:srgbClr val="EF9C82"/>
          </a:solidFill>
          <a:ln/>
        </p:spPr>
      </p:sp>
      <p:sp>
        <p:nvSpPr>
          <p:cNvPr id="8" name="Shape 5"/>
          <p:cNvSpPr/>
          <p:nvPr/>
        </p:nvSpPr>
        <p:spPr>
          <a:xfrm>
            <a:off x="1945719" y="2187893"/>
            <a:ext cx="615553" cy="615553"/>
          </a:xfrm>
          <a:prstGeom prst="roundRect">
            <a:avLst>
              <a:gd name="adj" fmla="val 148549"/>
            </a:avLst>
          </a:prstGeom>
          <a:solidFill>
            <a:srgbClr val="EF9C82"/>
          </a:solidFill>
          <a:ln/>
        </p:spPr>
      </p:sp>
      <p:sp>
        <p:nvSpPr>
          <p:cNvPr id="9" name="Text 6"/>
          <p:cNvSpPr/>
          <p:nvPr/>
        </p:nvSpPr>
        <p:spPr>
          <a:xfrm>
            <a:off x="2130385" y="2341721"/>
            <a:ext cx="24622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46190" y="3008590"/>
            <a:ext cx="2438757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Top Hiring Companies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46190" y="3515558"/>
            <a:ext cx="2614732" cy="65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Leading organizations recruiting AI talent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994071" y="2495669"/>
            <a:ext cx="3070860" cy="2205990"/>
          </a:xfrm>
          <a:prstGeom prst="roundRect">
            <a:avLst>
              <a:gd name="adj" fmla="val 4974"/>
            </a:avLst>
          </a:prstGeom>
          <a:solidFill>
            <a:srgbClr val="123332"/>
          </a:solidFill>
          <a:ln/>
        </p:spPr>
      </p:sp>
      <p:sp>
        <p:nvSpPr>
          <p:cNvPr id="13" name="Shape 10"/>
          <p:cNvSpPr/>
          <p:nvPr/>
        </p:nvSpPr>
        <p:spPr>
          <a:xfrm>
            <a:off x="3994071" y="2472809"/>
            <a:ext cx="3070860" cy="91440"/>
          </a:xfrm>
          <a:prstGeom prst="roundRect">
            <a:avLst>
              <a:gd name="adj" fmla="val 33662"/>
            </a:avLst>
          </a:prstGeom>
          <a:solidFill>
            <a:srgbClr val="EF9C82"/>
          </a:solidFill>
          <a:ln/>
        </p:spPr>
      </p:sp>
      <p:sp>
        <p:nvSpPr>
          <p:cNvPr id="14" name="Shape 11"/>
          <p:cNvSpPr/>
          <p:nvPr/>
        </p:nvSpPr>
        <p:spPr>
          <a:xfrm>
            <a:off x="5221724" y="2187893"/>
            <a:ext cx="615553" cy="615553"/>
          </a:xfrm>
          <a:prstGeom prst="roundRect">
            <a:avLst>
              <a:gd name="adj" fmla="val 148549"/>
            </a:avLst>
          </a:prstGeom>
          <a:solidFill>
            <a:srgbClr val="EF9C82"/>
          </a:solidFill>
          <a:ln/>
        </p:spPr>
      </p:sp>
      <p:sp>
        <p:nvSpPr>
          <p:cNvPr id="15" name="Text 12"/>
          <p:cNvSpPr/>
          <p:nvPr/>
        </p:nvSpPr>
        <p:spPr>
          <a:xfrm>
            <a:off x="5406390" y="2341721"/>
            <a:ext cx="24622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4222075" y="3008590"/>
            <a:ext cx="2614851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Geographic Distribution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222075" y="3817382"/>
            <a:ext cx="2614851" cy="65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Job availability by city and region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18185" y="5214580"/>
            <a:ext cx="3070741" cy="2205990"/>
          </a:xfrm>
          <a:prstGeom prst="roundRect">
            <a:avLst>
              <a:gd name="adj" fmla="val 4974"/>
            </a:avLst>
          </a:prstGeom>
          <a:solidFill>
            <a:srgbClr val="123332"/>
          </a:solidFill>
          <a:ln/>
        </p:spPr>
      </p:sp>
      <p:sp>
        <p:nvSpPr>
          <p:cNvPr id="19" name="Shape 16"/>
          <p:cNvSpPr/>
          <p:nvPr/>
        </p:nvSpPr>
        <p:spPr>
          <a:xfrm>
            <a:off x="718185" y="5191720"/>
            <a:ext cx="3070741" cy="91440"/>
          </a:xfrm>
          <a:prstGeom prst="roundRect">
            <a:avLst>
              <a:gd name="adj" fmla="val 33662"/>
            </a:avLst>
          </a:prstGeom>
          <a:solidFill>
            <a:srgbClr val="EF9C82"/>
          </a:solidFill>
          <a:ln/>
        </p:spPr>
      </p:sp>
      <p:sp>
        <p:nvSpPr>
          <p:cNvPr id="20" name="Shape 17"/>
          <p:cNvSpPr/>
          <p:nvPr/>
        </p:nvSpPr>
        <p:spPr>
          <a:xfrm>
            <a:off x="1945719" y="4906804"/>
            <a:ext cx="615553" cy="615553"/>
          </a:xfrm>
          <a:prstGeom prst="roundRect">
            <a:avLst>
              <a:gd name="adj" fmla="val 148549"/>
            </a:avLst>
          </a:prstGeom>
          <a:solidFill>
            <a:srgbClr val="EF9C82"/>
          </a:solidFill>
          <a:ln/>
        </p:spPr>
      </p:sp>
      <p:sp>
        <p:nvSpPr>
          <p:cNvPr id="21" name="Text 18"/>
          <p:cNvSpPr/>
          <p:nvPr/>
        </p:nvSpPr>
        <p:spPr>
          <a:xfrm>
            <a:off x="2130385" y="5060633"/>
            <a:ext cx="24622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946190" y="5727502"/>
            <a:ext cx="2414111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Regional Salaries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946190" y="6234470"/>
            <a:ext cx="2614732" cy="65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Compensation comparison across locations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994071" y="5214580"/>
            <a:ext cx="3070860" cy="2205990"/>
          </a:xfrm>
          <a:prstGeom prst="roundRect">
            <a:avLst>
              <a:gd name="adj" fmla="val 4974"/>
            </a:avLst>
          </a:prstGeom>
          <a:solidFill>
            <a:srgbClr val="123332"/>
          </a:solidFill>
          <a:ln/>
        </p:spPr>
      </p:sp>
      <p:sp>
        <p:nvSpPr>
          <p:cNvPr id="25" name="Shape 22"/>
          <p:cNvSpPr/>
          <p:nvPr/>
        </p:nvSpPr>
        <p:spPr>
          <a:xfrm>
            <a:off x="3994071" y="5191720"/>
            <a:ext cx="3070860" cy="91440"/>
          </a:xfrm>
          <a:prstGeom prst="roundRect">
            <a:avLst>
              <a:gd name="adj" fmla="val 33662"/>
            </a:avLst>
          </a:prstGeom>
          <a:solidFill>
            <a:srgbClr val="EF9C82"/>
          </a:solidFill>
          <a:ln/>
        </p:spPr>
      </p:sp>
      <p:sp>
        <p:nvSpPr>
          <p:cNvPr id="26" name="Shape 23"/>
          <p:cNvSpPr/>
          <p:nvPr/>
        </p:nvSpPr>
        <p:spPr>
          <a:xfrm>
            <a:off x="5221724" y="4906804"/>
            <a:ext cx="615553" cy="615553"/>
          </a:xfrm>
          <a:prstGeom prst="roundRect">
            <a:avLst>
              <a:gd name="adj" fmla="val 148549"/>
            </a:avLst>
          </a:prstGeom>
          <a:solidFill>
            <a:srgbClr val="EF9C82"/>
          </a:solidFill>
          <a:ln/>
        </p:spPr>
      </p:sp>
      <p:sp>
        <p:nvSpPr>
          <p:cNvPr id="27" name="Text 24"/>
          <p:cNvSpPr/>
          <p:nvPr/>
        </p:nvSpPr>
        <p:spPr>
          <a:xfrm>
            <a:off x="5406390" y="5060633"/>
            <a:ext cx="24622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4222075" y="5727502"/>
            <a:ext cx="2614851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Company Compensation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4222075" y="6536293"/>
            <a:ext cx="2614851" cy="65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Salary trends by organization size and type</a:t>
            </a:r>
            <a:endParaRPr lang="en-US" sz="16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089" y="2187893"/>
            <a:ext cx="6346746" cy="4030147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573089" y="6448782"/>
            <a:ext cx="6346746" cy="65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This dashboard identifies major hiring hubs and organizations, helping job seekers target their search strategically.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10812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171111"/>
            <a:ext cx="7468553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project successfully demonstrates how SQL and Power BI can transform raw job data into actionable insights, providing a comprehensive understanding of the AI job market. From identifying salary trends and pinpointing in-demand skills to revealing company hiring patterns, these insights empower both job seekers and employers to make informed strategic decisions.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5738455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2026-01-05T10:59:10Z</dcterms:created>
  <dcterms:modified xsi:type="dcterms:W3CDTF">2026-01-05T10:59:10Z</dcterms:modified>
</cp:coreProperties>
</file>